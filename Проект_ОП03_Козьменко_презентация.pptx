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mp4" ContentType="video/mp4"/>
  <Default Extension="rels" ContentType="application/vnd.openxmlformats-package.relationship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16" y="41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65799-C03B-411F-A477-9B16391E4EE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Заполнитель изображения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Заполнитель заметок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CBCCC-2AD8-4AC4-964B-04B11F29435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4C2DA75-E6BF-4D19-A701-3F2AF9012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841433A-D0C2-48F4-8977-85BBC76BB4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C34362-A12F-4348-9FD5-135D45B910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94F62F9-C68D-42E0-9E50-1015DB1505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C390290-073C-4F21-BED8-5CA3A42C4A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28E744E-6569-47EF-868B-AC9E01D8D9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892CD45-7FCB-4D00-AF0B-FF4196A513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A18E699-AC34-42E3-9E97-E69165413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ru-RU" altLang="en-US"/>
              <a:t>Щелкните для изменения стиля основного подзаголовка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ние и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контен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текста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6" name="Заполнитель контента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7" name="Заполнитель даты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Заполнитель нижнего колонтитула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9" name="Заполнитель номера слайда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Заполнитель нижнего колонтитула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полнитель номера слайда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Заполнитель нижнего колонтитула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Контен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Изобра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изображения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altLang="en-US"/>
              <a:t>Щелкните значок, чтобы добавить рисунок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Название и текст по вертика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Название по вертикал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2">
              <a:lumMod val="60000"/>
              <a:lumOff val="40000"/>
            </a:schemeClr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названия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>
          <a:xfrm>
            <a:off x="1095900" y="652292"/>
            <a:ext cx="8220646" cy="1590158"/>
          </a:xfrm>
        </p:spPr>
        <p:txBody>
          <a:bodyPr/>
          <a:lstStyle/>
          <a:p>
            <a:pPr algn="just"/>
            <a:r>
              <a:rPr lang="ru-RU" sz="3200" b="1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Разработка игры «21 очко/BlackJack</a:t>
            </a:r>
            <a:endParaRPr lang="ru-RU" altLang="en-US" sz="3200" b="1" u="none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6568869" y="2552773"/>
            <a:ext cx="4963725" cy="3133128"/>
          </a:xfrm>
        </p:spPr>
        <p:txBody>
          <a:bodyPr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Выполнила:</a:t>
            </a:r>
          </a:p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Студентка 2 курса группы ИБ-41</a:t>
            </a:r>
          </a:p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Козьменко Мария Алексеевна</a:t>
            </a:r>
          </a:p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Руководитель:</a:t>
            </a:r>
          </a:p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Преподаватель</a:t>
            </a:r>
          </a:p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Липатникова Надежда Михайловна</a:t>
            </a:r>
            <a:endParaRPr lang="ru-RU" alt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Текст. поле 3"/>
          <p:cNvSpPr txBox="1"/>
          <p:nvPr/>
        </p:nvSpPr>
        <p:spPr>
          <a:xfrm>
            <a:off x="4108924" y="6127711"/>
            <a:ext cx="4440492" cy="458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/>
              <a:t>Долгопрудный 2026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4891536" cy="855492"/>
          </a:xfrm>
        </p:spPr>
        <p:txBody>
          <a:bodyPr/>
          <a:lstStyle/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Актуальность и проблема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1825625"/>
            <a:ext cx="4460358" cy="459476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ru-RU" sz="2200" u="sng"/>
              <a:t>Описание проблемы: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200"/>
              <a:t>Начинающие программисты испытывают трудности с практическим закреплением базовых конструкций Python из-за отсутствия простых, но целостных проектов, а пользователи консольных приложений лишены возможности быстрого и полностью бесплатного досуга без финансовых рисков, аналогичного классическим карточным играм.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200"/>
          </a:p>
          <a:p>
            <a:pPr marL="0" indent="0">
              <a:lnSpc>
                <a:spcPct val="100000"/>
              </a:lnSpc>
              <a:buNone/>
            </a:pPr>
            <a:endParaRPr lang="ru-RU" sz="2200"/>
          </a:p>
        </p:txBody>
      </p:sp>
      <p:sp>
        <p:nvSpPr>
          <p:cNvPr id="4" name="Текст. поле 3"/>
          <p:cNvSpPr txBox="1"/>
          <p:nvPr/>
        </p:nvSpPr>
        <p:spPr>
          <a:xfrm>
            <a:off x="5729736" y="1825625"/>
            <a:ext cx="3416409" cy="890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en-US" sz="2200" u="sng"/>
              <a:t>Целевая аудитория:</a:t>
            </a:r>
            <a:endParaRPr lang="ru-RU" sz="2200" u="sng"/>
          </a:p>
          <a:p>
            <a:pPr>
              <a:spcBef>
                <a:spcPts val="1000"/>
              </a:spcBef>
            </a:pPr>
            <a:r>
              <a:rPr lang="en-US" sz="2200"/>
              <a:t>молодые люди</a:t>
            </a:r>
            <a:r>
              <a:rPr lang="ru-RU" sz="2200"/>
              <a:t> (</a:t>
            </a:r>
            <a:r>
              <a:rPr lang="en-US" sz="2200"/>
              <a:t>18-30 лет</a:t>
            </a:r>
            <a:r>
              <a:rPr lang="ru-RU" sz="2200"/>
              <a:t>)</a:t>
            </a:r>
            <a:endParaRPr lang="en-US" sz="2200"/>
          </a:p>
        </p:txBody>
      </p:sp>
      <p:sp>
        <p:nvSpPr>
          <p:cNvPr id="5" name="Текст. поле 4"/>
          <p:cNvSpPr txBox="1"/>
          <p:nvPr/>
        </p:nvSpPr>
        <p:spPr>
          <a:xfrm>
            <a:off x="5729736" y="2932424"/>
            <a:ext cx="4460358" cy="3237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en-US" sz="2200" u="sng">
                <a:latin typeface="Calibri" panose="020F0502020204030204"/>
                <a:ea typeface="Calibri" panose="020F0502020204030204"/>
                <a:cs typeface="Calibri" panose="020F0502020204030204"/>
              </a:rPr>
              <a:t>Основная идея</a:t>
            </a:r>
            <a:r>
              <a:rPr lang="ru-RU" sz="2200" u="sng"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</a:p>
          <a:p>
            <a:pPr>
              <a:spcBef>
                <a:spcPts val="1000"/>
              </a:spcBef>
            </a:pPr>
            <a:r>
              <a:rPr lang="ru-RU" sz="2200">
                <a:latin typeface="Calibri" panose="020F0502020204030204"/>
                <a:ea typeface="Calibri" panose="020F0502020204030204"/>
                <a:cs typeface="Calibri" panose="020F0502020204030204"/>
              </a:rPr>
              <a:t>Разработать программу, которая закрепит </a:t>
            </a:r>
            <a:r>
              <a:rPr lang="ru-RU" sz="22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навыки работы с основными конструкциями языка </a:t>
            </a:r>
            <a:r>
              <a:rPr lang="en-US" sz="22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Python </a:t>
            </a:r>
            <a:r>
              <a:rPr lang="ru-RU" sz="22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и даст возможность проведение безопасному и бесплатному досугу без финансовых рисков прямо в консоли</a:t>
            </a:r>
            <a:endParaRPr lang="en-US" sz="2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Use Case диаграмма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1266301" y="1690688"/>
            <a:ext cx="3565264" cy="4594768"/>
          </a:xfrm>
        </p:spPr>
        <p:txBody>
          <a:bodyPr/>
          <a:lstStyle/>
          <a:p>
            <a:pPr marL="0" indent="0">
              <a:buNone/>
            </a:pPr>
            <a:r>
              <a:rPr lang="en-US" sz="22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Диаграмма наглядно демонстрирует, что вся функциональность приложения ориентирована на удобство игрока, а ключевые игровые алгоритмы (ход дилера, подсчёт очков, проверка перебора) скрыты от пользователя и реализованы в программном коде.</a:t>
            </a:r>
            <a:endParaRPr sz="2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57813" y="608201"/>
            <a:ext cx="4992177" cy="5925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 Блок-схема алгоритма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1560095" y="1690689"/>
            <a:ext cx="384227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Блок-схема наглядно показывает ветвления (условия перебора, ход дилера) и циклы (добор карт дилером), обеспечивающие корректную реализацию правил игры</a:t>
            </a:r>
            <a:endParaRPr sz="2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30327" y="281203"/>
            <a:ext cx="5433875" cy="65138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 Внешний вид программы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4330293"/>
            <a:ext cx="2809794" cy="783834"/>
          </a:xfrm>
        </p:spPr>
        <p:txBody>
          <a:bodyPr/>
          <a:lstStyle/>
          <a:p>
            <a:pPr marL="0" indent="0">
              <a:buNone/>
            </a:pPr>
            <a:r>
              <a:rPr sz="2400" u="none">
                <a:latin typeface="Calibri" panose="020F0502020204030204"/>
                <a:ea typeface="Calibri" panose="020F0502020204030204"/>
                <a:cs typeface="Calibri" panose="020F0502020204030204"/>
              </a:rPr>
              <a:t>Стартовое окно (StartWindow)</a:t>
            </a: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3529" y="1570316"/>
            <a:ext cx="3235657" cy="235435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01228" y="2753958"/>
            <a:ext cx="3563029" cy="3152669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63246" y="1401614"/>
            <a:ext cx="3235657" cy="2659592"/>
          </a:xfrm>
          <a:prstGeom prst="rect">
            <a:avLst/>
          </a:prstGeom>
        </p:spPr>
      </p:pic>
      <p:sp>
        <p:nvSpPr>
          <p:cNvPr id="9" name="Текст. поле 8"/>
          <p:cNvSpPr txBox="1"/>
          <p:nvPr/>
        </p:nvSpPr>
        <p:spPr>
          <a:xfrm flipH="1">
            <a:off x="5136755" y="1401614"/>
            <a:ext cx="2506095" cy="119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Главное игровое окно (GameWindow)</a:t>
            </a:r>
            <a:endParaRPr lang="en-US" sz="24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Текст. поле 9"/>
          <p:cNvSpPr txBox="1"/>
          <p:nvPr/>
        </p:nvSpPr>
        <p:spPr>
          <a:xfrm>
            <a:off x="8960728" y="4330293"/>
            <a:ext cx="1897073" cy="824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u="none" strike="noStrike">
                <a:latin typeface="Calibri" panose="020F0502020204030204"/>
                <a:ea typeface="Calibri" panose="020F0502020204030204"/>
                <a:cs typeface="Calibri" panose="020F0502020204030204"/>
              </a:rPr>
              <a:t>Окно правил (show_rules)</a:t>
            </a:r>
            <a:endParaRPr lang="en-US" sz="24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Прямоугольник со скругленными углами 10"/>
          <p:cNvSpPr/>
          <p:nvPr/>
        </p:nvSpPr>
        <p:spPr>
          <a:xfrm>
            <a:off x="4948337" y="1393425"/>
            <a:ext cx="2585390" cy="1198297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со скругленными углами 11"/>
          <p:cNvSpPr/>
          <p:nvPr/>
        </p:nvSpPr>
        <p:spPr>
          <a:xfrm>
            <a:off x="776457" y="4264215"/>
            <a:ext cx="2409113" cy="100729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со скругленными углами 13"/>
          <p:cNvSpPr/>
          <p:nvPr/>
        </p:nvSpPr>
        <p:spPr>
          <a:xfrm>
            <a:off x="8658540" y="4297792"/>
            <a:ext cx="2476266" cy="97371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Пример работы и логирование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1470633"/>
            <a:ext cx="4387316" cy="440111"/>
          </a:xfrm>
        </p:spPr>
        <p:txBody>
          <a:bodyPr/>
          <a:lstStyle/>
          <a:p>
            <a:pPr marL="0" indent="0">
              <a:buNone/>
            </a:pPr>
            <a:r>
              <a:rPr sz="2200" dirty="0" err="1"/>
              <a:t>Демонстрация</a:t>
            </a:r>
            <a:r>
              <a:rPr sz="2200" dirty="0"/>
              <a:t> </a:t>
            </a:r>
            <a:r>
              <a:rPr sz="2200" dirty="0" err="1"/>
              <a:t>работы</a:t>
            </a:r>
            <a:r>
              <a:rPr sz="2200" dirty="0"/>
              <a:t> </a:t>
            </a:r>
            <a:r>
              <a:rPr sz="2200" dirty="0" err="1"/>
              <a:t>программы</a:t>
            </a:r>
            <a:endParaRPr sz="2200" dirty="0"/>
          </a:p>
          <a:p>
            <a:pPr marL="0" indent="0">
              <a:buNone/>
            </a:pPr>
            <a:r>
              <a:rPr sz="2200" dirty="0"/>
              <a:t> </a:t>
            </a:r>
          </a:p>
        </p:txBody>
      </p:sp>
      <p:pic>
        <p:nvPicPr>
          <p:cNvPr id="4" name="2026-04-16 10.28.04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rcRect/>
          <a:stretch>
            <a:fillRect/>
          </a:stretch>
        </p:blipFill>
        <p:spPr>
          <a:xfrm>
            <a:off x="2616717" y="2014468"/>
            <a:ext cx="6958566" cy="4726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Пример работы и логирование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1432951"/>
            <a:ext cx="4340018" cy="515474"/>
          </a:xfrm>
        </p:spPr>
        <p:txBody>
          <a:bodyPr/>
          <a:lstStyle/>
          <a:p>
            <a:pPr marL="0" indent="0">
              <a:buNone/>
            </a:pPr>
            <a:r>
              <a:rPr sz="2400"/>
              <a:t>Содержимое файла лога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4989" y="1948425"/>
            <a:ext cx="8586461" cy="43413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Заключение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sz="2000"/>
              <a:t>Разработана полноценная карточная игра «21 очко» (BlackJack) на Python с графическим интерфейсом (библиотека tkinter).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Реализованы все ключевые функции: генерация и перемешивание колоды, раздача карт, подсчёт очков, логика ходов игрока и автоматического добора дилера, определение победителя.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Создан интуитивно понятный интерфейс с русскоязычными элементами, кнопками управления и окном правил.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Обеспечено автоматическое логирование игровых событий в структурированный JSON-файл.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Закреплены практические навыки объектно-ориентированного программирования, обработки событий и работы с файловой системой.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Все поставленные цели достигнуты, программа работает стабильно и готова к использованию в учебных целях.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о умолчанию">
  <a:themeElements>
    <a:clrScheme name="Офис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исная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фис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318</Words>
  <Application>Microsoft Macintosh PowerPoint</Application>
  <PresentationFormat>Широкоэкранный</PresentationFormat>
  <Paragraphs>43</Paragraphs>
  <Slides>8</Slides>
  <Notes>8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По умолчанию</vt:lpstr>
      <vt:lpstr>Разработка игры «21 очко/BlackJack</vt:lpstr>
      <vt:lpstr>Актуальность и проблема</vt:lpstr>
      <vt:lpstr>Use Case диаграмма</vt:lpstr>
      <vt:lpstr> Блок-схема алгоритма</vt:lpstr>
      <vt:lpstr> Внешний вид программы</vt:lpstr>
      <vt:lpstr>Пример работы и логирование</vt:lpstr>
      <vt:lpstr>Пример работы и логирование</vt:lpstr>
      <vt:lpstr>Заключение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Kozmenko (mavolmos)</dc:creator>
  <cp:lastModifiedBy>Maria Kozmenko (mavolmos)</cp:lastModifiedBy>
  <cp:revision>2</cp:revision>
  <dcterms:created xsi:type="dcterms:W3CDTF">2026-04-03T06:31:11Z</dcterms:created>
  <dcterms:modified xsi:type="dcterms:W3CDTF">2026-04-16T07:49:00Z</dcterms:modified>
</cp:coreProperties>
</file>